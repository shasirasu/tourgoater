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Tourgoater as a complete travel planning and booking-inquiry platform. Explain that the project connects planning, saving, communication and administration in one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in user language: planning is scattered, costs are unclear, and follow-up is disconnected. Then present the design goal shown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request path from left to right. React calls /api, Express validates the JWT and request, the data layer chooses SQLite or PostgreSQL, and external services are called only by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booking_json and the saved plan JSON fields. They preserve exactly what the traveler selected at that time, even if the catalog changes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demo short. Prepare accounts before presenting. If a live external API fails, explain the dependency and continue with saved data or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If asked about the strongest feature, highlight the complete inquiry loop: traveler submits, admin replies, user receives a persistent notification.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UR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TOURGOATER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326880" y="65105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FINAL PROJECT  •  WEEK 12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hasi\OneDrive\Documents\GitHub\tourgoater\public\images\listings\place-maharashtra-mahabaleshwar.jp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7840" y="0"/>
            <a:ext cx="3017520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pic>
        <p:nvPicPr>
          <p:cNvPr id="4" name="Image 1" descr="C:\Users\shasi\OneDrive\Documents\GitHub\tourgoater\public\images\branding\tg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89888" y="758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</a:rPr>
              <a:t>TOURGOATER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58368" y="1828800"/>
            <a:ext cx="5806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Plan clearly.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Travel confidently.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694944" y="3611880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full-stack India travel planner with saved trips, live travel search, booking inquiries, admin workflows and email OTP security.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5800" y="498348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506120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FINAL PROJECT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240280" y="498348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313432" y="5061204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12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94944" y="5632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01 •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Travel planning is fragmented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Travelers move between many websites and lose control of their budget and decisions.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64008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Too many disconnected 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450592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Places, flights, hotels, notes and inquiries are handled in separate applications.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920240"/>
            <a:ext cx="64008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Unclear total cost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450592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Base trip spending and transport add-ons are often mixed, making the real budget difficult to understand.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192024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01584" y="192024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 continuous follow-up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450592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After an inquiry, travelers need a simple way to track status and communicate with an administrator.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25880" y="4343400"/>
            <a:ext cx="950976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27632" y="4590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DBA74"/>
                </a:solidFill>
              </a:rPr>
              <a:t>Design goal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80360" y="4517136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One application to discover → plan → save → inquire → track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02 •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One connected traveler journey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same plan continues from discovery through admin communication.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24712" y="1965960"/>
            <a:ext cx="658368" cy="6583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1671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47672" y="2148840"/>
            <a:ext cx="3931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52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Discover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236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Browse India destinations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44952" y="1965960"/>
            <a:ext cx="658368" cy="6583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21671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67912" y="2148840"/>
            <a:ext cx="3931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852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3236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Places + budget + dates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5192" y="1965960"/>
            <a:ext cx="658368" cy="6583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1671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88152" y="2148840"/>
            <a:ext cx="3931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852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3236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Optional flight and hotel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1965960"/>
            <a:ext cx="658368" cy="65836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21671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08392" y="2148840"/>
            <a:ext cx="3931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852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Save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236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Full plan or places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05672" y="1965960"/>
            <a:ext cx="658368" cy="658368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42832" y="21671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628632" y="2148840"/>
            <a:ext cx="3931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852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Inquire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5320" y="3236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Submit traveler details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725912" y="1965960"/>
            <a:ext cx="658368" cy="658368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63072" y="21671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195560" y="2852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Track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95560" y="3236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Status, replies, alerts</a:t>
            </a:r>
            <a:endParaRPr lang="en-US" sz="1000" dirty="0"/>
          </a:p>
        </p:txBody>
      </p:sp>
      <p:pic>
        <p:nvPicPr>
          <p:cNvPr id="34" name="Image 0" descr="C:\Users\shasi\OneDrive\Documents\GitHub\tourgoater\public\images\listings\place-andaman-nicobar-havelock-island-swaraj-dwee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270248"/>
            <a:ext cx="2880360" cy="150876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22192" y="4270248"/>
            <a:ext cx="7699248" cy="1508760"/>
          </a:xfrm>
          <a:prstGeom prst="roundRect">
            <a:avLst>
              <a:gd name="adj" fmla="val 3636"/>
            </a:avLst>
          </a:prstGeom>
          <a:solidFill>
            <a:srgbClr val="FFF1E6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33088" y="45171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Key product decision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133088" y="4864608"/>
            <a:ext cx="6903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Flights and hotels are optional. Travelers can still create and book a plan without either selection, while travel add-ons remain separate from the base stay-and-activity budget.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03 • MAIN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Built for travelers and administrators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Two connected experiences share one source of truth.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TRAVELER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</a:rPr>
              <a:t>ADMIN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51389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212848"/>
            <a:ext cx="6400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39572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274320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Four-step builder • live search • optional add-ons • itinerary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3438144"/>
            <a:ext cx="51389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3438144"/>
            <a:ext cx="6400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62102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Save &amp; edit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3968496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Full plans • saved places • five-second deletion undo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4663440"/>
            <a:ext cx="51389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4663440"/>
            <a:ext cx="6400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846320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Book &amp; track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" y="5193792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In-app inquiry • conversations • status • notification bell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73368" y="2212848"/>
            <a:ext cx="51389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2212848"/>
            <a:ext cx="64008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239572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92824" y="274320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Dashboard metrics • destination and catalog management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73368" y="3438144"/>
            <a:ext cx="51389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73368" y="3438144"/>
            <a:ext cx="64008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362102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Support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92824" y="3968496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Review inquiry details • reply to each booking conversation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73368" y="4663440"/>
            <a:ext cx="51389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73368" y="4663440"/>
            <a:ext cx="64008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4846320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Control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92824" y="5193792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User roles • status workflow • Neon catalog import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04 •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 modern full-stack JavaScript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Selected for fast development, clear separation of concerns and production portability.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578608" cy="32461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965960"/>
            <a:ext cx="64008" cy="3246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4884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496312"/>
            <a:ext cx="2157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React 19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React Router 7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Vite 7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GSAP + Framer Motion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1965960"/>
            <a:ext cx="2578608" cy="32461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11296" y="1965960"/>
            <a:ext cx="64008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14884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30752" y="2496312"/>
            <a:ext cx="2157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Node.js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Express 5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REST APIs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Nodemailer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4224" y="1965960"/>
            <a:ext cx="2578608" cy="32461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64224" y="1965960"/>
            <a:ext cx="64008" cy="3246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4884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496312"/>
            <a:ext cx="2157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SQLite (local)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PostgreSQL / Neon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Runtime migrations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JSON snapshots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17152" y="1965960"/>
            <a:ext cx="2578608" cy="32461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17152" y="1965960"/>
            <a:ext cx="64008" cy="3246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36608" y="214884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Security &amp; APIs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36608" y="2496312"/>
            <a:ext cx="2157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JWT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bcrypt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Gmail SMTP OTP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SerpAPI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687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65960" y="5623560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39112" y="57012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Vercel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83280" y="5623560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57012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5623560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57012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Gmail SMTP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17920" y="5623560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57012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SerpAPI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05 •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Layered architecture with external integrations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layer has one clear responsibility.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64008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Browser / React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542032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Pages • Components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Theme • Auth state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27248" y="2578608"/>
            <a:ext cx="384048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01168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2011680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Express REST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7016" y="2542032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Validation • Routes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Business rules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24728" y="2578608"/>
            <a:ext cx="384048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01168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011680"/>
            <a:ext cx="64008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54496" y="2542032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Shared query layer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Runtime migration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22208" y="2578608"/>
            <a:ext cx="384048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201168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32520" y="2011680"/>
            <a:ext cx="64008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51976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51976" y="2542032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SQLite locally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Neon in production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98848" y="3529584"/>
            <a:ext cx="0" cy="10789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514600" y="46177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14600" y="4617720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34056" y="4800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Gmail SMTP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34056" y="5148072"/>
            <a:ext cx="2002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Signup and reset OTP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93792" y="46177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93792" y="4617720"/>
            <a:ext cx="64008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4800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SerpAPI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13248" y="5148072"/>
            <a:ext cx="2002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Live flights and hotels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82128" y="46177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882128" y="4617720"/>
            <a:ext cx="64008" cy="9875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01584" y="4800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Vercel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01584" y="5148072"/>
            <a:ext cx="2002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Frontend + serverless API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298448" y="3913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JWT bearer token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090672" y="59161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Environment variables protect credentials and select local or production infrastructure.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06 • DATABASE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Relational core with immutable trip snapshots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Foreign keys connect every user-owned record and cascade cleanup safely.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64008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45059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id • email • role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password_hash • verified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27248" y="173736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1737360"/>
            <a:ext cx="64008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saved_plans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46704" y="226771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user_id • destination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place_name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27248" y="306324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27248" y="3063240"/>
            <a:ext cx="64008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saved_trip_plans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46704" y="359359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user_id • places_json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flight_json • hotel_json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budget • total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205740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2057400"/>
            <a:ext cx="64008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booking_inquiries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08776" y="258775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user_id • booking_json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traveler details • status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overall_total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840" y="205740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06840" y="205740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6296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booking_inquiry_messages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26296" y="2587752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booking_inquiry_id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sender • message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read_at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25196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OTP challenges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" y="4782312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signup + password reset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hash • expiry • attempts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61772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4617720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catalog_*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08776" y="514807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destinations • places • hotels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80360" y="2487168"/>
            <a:ext cx="246888" cy="-731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880360" y="2542032"/>
            <a:ext cx="246888" cy="10789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367528" y="3657600"/>
            <a:ext cx="621792" cy="-7772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229600" y="269748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13232" y="5833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1 user → many plans and inquiries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32520" y="40690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1 inquiry → many messages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07 • TRUST &amp;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Authentication designed around verified ownership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Passwords and OTPs are never stored as readable text.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2029968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9536" y="26609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Sign 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30175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Normalize email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80944" y="2029968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5536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45536" y="26609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Send OTP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45536" y="30175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Gmail SMTP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66944" y="2029968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31536" y="26609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Verify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31536" y="30175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Hashed code + expiry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52944" y="2029968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17536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17536" y="26609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Authenticate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17536" y="30175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JWT bearer token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838944" y="2029968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03536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03536" y="26609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Authorize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03536" y="30175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User or admin role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" y="4096512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4096512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27939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Protected data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4626864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JWT middleware limits plans, bookings and messages to their owner.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07408" y="4096512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07408" y="4096512"/>
            <a:ext cx="6400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427939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Admin boundary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26864" y="4626864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Admin middleware protects catalog, user and inquiry management.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01584" y="4096512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01584" y="4096512"/>
            <a:ext cx="64008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427939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Secret handling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21040" y="4626864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SMTP, JWT, database and API credentials remain in environment variables.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08 • LIVE DEMONSTRATION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 focused 5-minute product walkthrough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Use one traveler account and one admin account in separate browser sessions.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8928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00:00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36192" y="1856232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4208" y="2103120"/>
            <a:ext cx="0" cy="45720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7830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Sign 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41648" y="180136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Show verified login and light/dark preference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5968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00:35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36192" y="2560320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4208" y="2807208"/>
            <a:ext cx="0" cy="45720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24871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Build a 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41648" y="2505456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Select places, budget and optional travel add-ons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3009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01:45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36192" y="3264408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4208" y="3511296"/>
            <a:ext cx="0" cy="45720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319125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Save &amp; edit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41648" y="3209544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Save the plan, open Saved Plans and edit 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0050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02:35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36192" y="3968496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4208" y="4215384"/>
            <a:ext cx="0" cy="45720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38953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Submit inquiry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41648" y="3913632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Enter traveler details and show completion animation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709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03:25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36192" y="4672584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4208" y="4919472"/>
            <a:ext cx="0" cy="45720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45994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Admin 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41648" y="461772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Open inquiry, change status and send reply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4132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04:20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36192" y="5376672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3392" y="53035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Close the loop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41648" y="532180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Show user notification and booking conversation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2440" y="5870448"/>
            <a:ext cx="3310128" cy="384048"/>
          </a:xfrm>
          <a:prstGeom prst="roundRect">
            <a:avLst>
              <a:gd name="adj" fmla="val 95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598932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Backup: screenshots + README 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09 • CHALLENGES AND SOLUTIONS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Engineering decisions shaped by real failures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problem produced a reusable improvement in the system.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77393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DC2626"/>
                </a:solidFill>
              </a:rPr>
              <a:t>CHALLENGE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43400" y="177393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</a:rPr>
              <a:t>SOLUTION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2139696"/>
            <a:ext cx="3246120" cy="557784"/>
          </a:xfrm>
          <a:prstGeom prst="roundRect">
            <a:avLst>
              <a:gd name="adj" fmla="val 655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951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F1239"/>
                </a:solidFill>
              </a:rPr>
              <a:t>Gmail OTP failed in deployment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2295144"/>
            <a:ext cx="2743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2139696"/>
            <a:ext cx="7059168" cy="557784"/>
          </a:xfrm>
          <a:prstGeom prst="roundRect">
            <a:avLst>
              <a:gd name="adj" fmla="val 65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258568"/>
            <a:ext cx="6647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5E59"/>
                </a:solidFill>
              </a:rPr>
              <a:t>Separated environment-variable names/values, used App Passwords, and added explicit server errors.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898648"/>
            <a:ext cx="3246120" cy="557784"/>
          </a:xfrm>
          <a:prstGeom prst="roundRect">
            <a:avLst>
              <a:gd name="adj" fmla="val 655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05409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F1239"/>
                </a:solidFill>
              </a:rPr>
              <a:t>SQLite rejected complex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23360" y="3054096"/>
            <a:ext cx="2743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2898648"/>
            <a:ext cx="7059168" cy="557784"/>
          </a:xfrm>
          <a:prstGeom prst="roundRect">
            <a:avLst>
              <a:gd name="adj" fmla="val 65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017520"/>
            <a:ext cx="6647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5E59"/>
                </a:solidFill>
              </a:rPr>
              <a:t>Serialized plan, flight and hotel snapshots to JSON before parameter binding.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657600"/>
            <a:ext cx="3246120" cy="557784"/>
          </a:xfrm>
          <a:prstGeom prst="roundRect">
            <a:avLst>
              <a:gd name="adj" fmla="val 655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8130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F1239"/>
                </a:solidFill>
              </a:rPr>
              <a:t>Travel options blocked completion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23360" y="3813048"/>
            <a:ext cx="2743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5696" y="3657600"/>
            <a:ext cx="7059168" cy="557784"/>
          </a:xfrm>
          <a:prstGeom prst="roundRect">
            <a:avLst>
              <a:gd name="adj" fmla="val 65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776472"/>
            <a:ext cx="6647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5E59"/>
                </a:solidFill>
              </a:rPr>
              <a:t>Made flights and hotels optional while preserving a clear add-on budget model.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4416552"/>
            <a:ext cx="3246120" cy="557784"/>
          </a:xfrm>
          <a:prstGeom prst="roundRect">
            <a:avLst>
              <a:gd name="adj" fmla="val 655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5720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F1239"/>
                </a:solidFill>
              </a:rPr>
              <a:t>Accidental plan deletion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23360" y="4572000"/>
            <a:ext cx="2743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5696" y="4416552"/>
            <a:ext cx="7059168" cy="557784"/>
          </a:xfrm>
          <a:prstGeom prst="roundRect">
            <a:avLst>
              <a:gd name="adj" fmla="val 65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535424"/>
            <a:ext cx="6647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5E59"/>
                </a:solidFill>
              </a:rPr>
              <a:t>Added optimistic removal with a five-second Undo window before permanent deletion.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5175504"/>
            <a:ext cx="3246120" cy="557784"/>
          </a:xfrm>
          <a:prstGeom prst="roundRect">
            <a:avLst>
              <a:gd name="adj" fmla="val 655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533095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F1239"/>
                </a:solidFill>
              </a:rPr>
              <a:t>Admin replies were invisible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23360" y="5330952"/>
            <a:ext cx="2743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5696" y="5175504"/>
            <a:ext cx="7059168" cy="557784"/>
          </a:xfrm>
          <a:prstGeom prst="roundRect">
            <a:avLst>
              <a:gd name="adj" fmla="val 65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5294376"/>
            <a:ext cx="6647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5E59"/>
                </a:solidFill>
              </a:rPr>
              <a:t>Added per-booking messages, read timestamps, polling and an unread notification badge.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10 • FUTURE IMPROVEMENTS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From inquiry platform to travel ecosystem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roadmap prioritizes reliability before adding commercial capabilities.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5224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2395728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95728"/>
            <a:ext cx="64008" cy="2880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Stabilize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2926080"/>
            <a:ext cx="2916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Automated tests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Fix ESLint setup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Bundle code splitting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Monitoring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78808" y="3584448"/>
            <a:ext cx="274320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874520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95224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NEXT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2395728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2395728"/>
            <a:ext cx="64008" cy="2880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Enhance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45736" y="2926080"/>
            <a:ext cx="2916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Browser push alerts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Map-based itinerary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Accessibility audit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Better search cache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73568" y="3584448"/>
            <a:ext cx="274320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874520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195224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321040" y="2395728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2395728"/>
            <a:ext cx="64008" cy="2880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0496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Scale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40496" y="2926080"/>
            <a:ext cx="2916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Payment gateway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Provider booking APIs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Cancellation workflow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Recommendations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54680" y="5760720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Principle: protect traveler trust as functionality grows.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hasi\OneDrive\Documents\GitHub\tourgoater\public\images\branding\tg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5943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81728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97316"/>
                </a:solidFill>
              </a:rPr>
              <a:t>TOURGOATER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874520" y="2267712"/>
            <a:ext cx="8439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One plan. One budget.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One conversation.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852928" y="37673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working full-stack foundation for confident travel planning across India.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800600" y="4663440"/>
            <a:ext cx="2596896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58768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80" kern="0" dirty="0">
                <a:solidFill>
                  <a:srgbClr val="FFFFFF"/>
                </a:solidFill>
              </a:rPr>
              <a:t>THANK YOU  •  QUESTIONS?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834640" y="6153912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React • Express • SQLite/PostgreSQL • Gmail OTP • SerpAPI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Tourgoater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Tourgoater — Plan Clearly. Travel Confidently.</dc:title>
  <dc:subject>Tourgoater final project presentation</dc:subject>
  <dc:creator>Tourgoater Project Team</dc:creator>
  <cp:lastModifiedBy>Tourgoater Project Team</cp:lastModifiedBy>
  <cp:revision>1</cp:revision>
  <dcterms:created xsi:type="dcterms:W3CDTF">2026-07-27T09:36:55Z</dcterms:created>
  <dcterms:modified xsi:type="dcterms:W3CDTF">2026-07-27T09:36:55Z</dcterms:modified>
</cp:coreProperties>
</file>